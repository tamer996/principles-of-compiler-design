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10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Descent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sz="2400" b="1" dirty="0"/>
              <a:t>Top-Down Parsing Technique in Compiler </a:t>
            </a:r>
            <a:r>
              <a:rPr sz="2400" b="1" dirty="0" smtClean="0"/>
              <a:t>Design</a:t>
            </a:r>
            <a:endParaRPr lang="en-US" sz="2400" b="1" dirty="0" smtClean="0"/>
          </a:p>
          <a:p>
            <a:pPr algn="l">
              <a:defRPr sz="1800"/>
            </a:pPr>
            <a:endParaRPr sz="2400" b="1" dirty="0"/>
          </a:p>
          <a:p>
            <a:pPr>
              <a:defRPr sz="1800"/>
            </a:pPr>
            <a:r>
              <a:rPr lang="en-US" dirty="0"/>
              <a:t>Name: Tamer </a:t>
            </a:r>
            <a:r>
              <a:rPr lang="en-US" dirty="0" smtClean="0"/>
              <a:t> </a:t>
            </a:r>
            <a:r>
              <a:rPr lang="en-US" dirty="0" err="1" smtClean="0"/>
              <a:t>Getaw</a:t>
            </a:r>
            <a:endParaRPr lang="en-US" dirty="0"/>
          </a:p>
          <a:p>
            <a:pPr>
              <a:defRPr sz="1800"/>
            </a:pPr>
            <a:r>
              <a:rPr lang="en-US" dirty="0" smtClean="0"/>
              <a:t> </a:t>
            </a:r>
            <a:r>
              <a:rPr lang="en-US" dirty="0"/>
              <a:t>ID: </a:t>
            </a:r>
            <a:r>
              <a:rPr lang="en-US" dirty="0" smtClean="0"/>
              <a:t>BDU1507859</a:t>
            </a:r>
          </a:p>
          <a:p>
            <a:pPr>
              <a:defRPr sz="1800"/>
            </a:pPr>
            <a:r>
              <a:rPr lang="en-US" dirty="0" smtClean="0"/>
              <a:t>Department : Software engineering </a:t>
            </a:r>
          </a:p>
          <a:p>
            <a:pPr>
              <a:defRPr sz="1800"/>
            </a:pPr>
            <a:r>
              <a:rPr lang="en-US" dirty="0" smtClean="0"/>
              <a:t>Section :A</a:t>
            </a:r>
            <a:endParaRPr lang="en-US" dirty="0"/>
          </a:p>
          <a:p>
            <a:pPr>
              <a:defRPr sz="1800"/>
            </a:pPr>
            <a:r>
              <a:rPr lang="en-US" dirty="0"/>
              <a:t>Course: Principles of Compiler </a:t>
            </a:r>
            <a:r>
              <a:rPr lang="en-US" dirty="0" smtClean="0"/>
              <a:t>Design</a:t>
            </a:r>
          </a:p>
          <a:p>
            <a:pPr>
              <a:defRPr sz="1800"/>
            </a:pPr>
            <a:r>
              <a:rPr lang="en-US" dirty="0" smtClean="0"/>
              <a:t>Instructor:  </a:t>
            </a:r>
            <a:r>
              <a:rPr lang="en-US" dirty="0" err="1" smtClean="0"/>
              <a:t>Lec</a:t>
            </a:r>
            <a:r>
              <a:rPr lang="en-US" dirty="0" smtClean="0"/>
              <a:t>  </a:t>
            </a:r>
            <a:r>
              <a:rPr lang="en-US" dirty="0" err="1" smtClean="0"/>
              <a:t>Wondimu.B</a:t>
            </a:r>
            <a:endParaRPr lang="en-US" dirty="0" smtClean="0"/>
          </a:p>
          <a:p>
            <a:pPr>
              <a:defRPr sz="1800"/>
            </a:pPr>
            <a:r>
              <a:rPr lang="en-US" dirty="0" smtClean="0"/>
              <a:t>Date</a:t>
            </a:r>
            <a:r>
              <a:rPr lang="en-US" dirty="0"/>
              <a:t>: </a:t>
            </a:r>
            <a:r>
              <a:rPr lang="en-US" dirty="0" smtClean="0"/>
              <a:t>27/04/18 E.C</a:t>
            </a:r>
            <a:endParaRPr lang="en-US" dirty="0"/>
          </a:p>
          <a:p>
            <a:pPr>
              <a:defRPr sz="1800"/>
            </a:pPr>
            <a:r>
              <a:rPr lang="en-US" dirty="0" smtClean="0"/>
              <a:t>Question No.=48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Introduction to Recursive Descent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576" indent="0">
              <a:buNone/>
            </a:pPr>
            <a:r>
              <a:rPr lang="en-US" sz="2000" b="1" dirty="0"/>
              <a:t>Parsing:</a:t>
            </a:r>
            <a:r>
              <a:rPr lang="en-US" sz="2000" dirty="0"/>
              <a:t> Parsing is the process of analyzing source code syntax to check if it follows the grammar rules of a programming language.</a:t>
            </a:r>
          </a:p>
          <a:p>
            <a:pPr marL="36576" indent="0">
              <a:buNone/>
            </a:pPr>
            <a:r>
              <a:rPr lang="en-US" sz="2000" b="1" dirty="0"/>
              <a:t>Parsing Approaches:</a:t>
            </a:r>
            <a:endParaRPr lang="en-US" sz="2000" dirty="0"/>
          </a:p>
          <a:p>
            <a:r>
              <a:rPr lang="en-US" sz="2000" dirty="0"/>
              <a:t>Top-down parsing: starts from the start symbol and works down to terminals.</a:t>
            </a:r>
          </a:p>
          <a:p>
            <a:r>
              <a:rPr lang="en-US" sz="2000" dirty="0"/>
              <a:t>Bottom-up parsing: starts from input tokens and builds the parse tree upwards.</a:t>
            </a:r>
          </a:p>
          <a:p>
            <a:pPr marL="36576" indent="0">
              <a:buNone/>
            </a:pPr>
            <a:r>
              <a:rPr lang="en-US" sz="2000" b="1" dirty="0"/>
              <a:t>Recursive Descent </a:t>
            </a:r>
            <a:r>
              <a:rPr lang="en-US" sz="2000" b="1" dirty="0" smtClean="0"/>
              <a:t>Parser:</a:t>
            </a:r>
            <a:endParaRPr lang="en-US" sz="2000" dirty="0" smtClean="0"/>
          </a:p>
          <a:p>
            <a:r>
              <a:rPr lang="en-US" sz="2000" dirty="0"/>
              <a:t>A </a:t>
            </a:r>
            <a:r>
              <a:rPr lang="en-US" sz="2000" b="1" dirty="0"/>
              <a:t>top-down parser</a:t>
            </a:r>
            <a:r>
              <a:rPr lang="en-US" sz="2000" dirty="0"/>
              <a:t> that uses </a:t>
            </a:r>
            <a:r>
              <a:rPr lang="en-US" sz="2000" b="1" dirty="0"/>
              <a:t>recursive functions</a:t>
            </a:r>
            <a:r>
              <a:rPr lang="en-US" sz="2000" dirty="0"/>
              <a:t> for each non-terminal.</a:t>
            </a:r>
          </a:p>
          <a:p>
            <a:r>
              <a:rPr lang="en-US" sz="2000" dirty="0"/>
              <a:t>Matches input tokens to grammar rules step by step.</a:t>
            </a:r>
          </a:p>
          <a:p>
            <a:pPr marL="36576" indent="0">
              <a:buNone/>
            </a:pPr>
            <a:r>
              <a:rPr lang="en-US" sz="2000" b="1" dirty="0" smtClean="0"/>
              <a:t>Diagram:</a:t>
            </a:r>
          </a:p>
          <a:p>
            <a:pPr marL="36576" indent="0">
              <a:buNone/>
            </a:pPr>
            <a:r>
              <a:rPr lang="en-US" sz="2000" b="1" dirty="0"/>
              <a:t> Input Tokens → Recursive Descent Parser → Parse Tree</a:t>
            </a:r>
          </a:p>
          <a:p>
            <a:pPr marL="36576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Recursive Descent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6576" indent="0">
              <a:buNone/>
            </a:pPr>
            <a:r>
              <a:rPr lang="en-US" b="1" dirty="0"/>
              <a:t>Non-Terminals as Functions:</a:t>
            </a:r>
            <a:endParaRPr lang="en-US" dirty="0"/>
          </a:p>
          <a:p>
            <a:r>
              <a:rPr lang="en-US" dirty="0"/>
              <a:t>Each </a:t>
            </a:r>
            <a:r>
              <a:rPr lang="en-US" b="1" dirty="0"/>
              <a:t>non-terminal</a:t>
            </a:r>
            <a:r>
              <a:rPr lang="en-US" dirty="0"/>
              <a:t> in the grammar corresponds to a </a:t>
            </a:r>
            <a:r>
              <a:rPr lang="en-US" b="1" dirty="0"/>
              <a:t>recursive function</a:t>
            </a:r>
            <a:r>
              <a:rPr lang="en-US" dirty="0"/>
              <a:t>.</a:t>
            </a:r>
          </a:p>
          <a:p>
            <a:pPr marL="36576" indent="0">
              <a:buNone/>
            </a:pPr>
            <a:r>
              <a:rPr lang="en-US" b="1" dirty="0"/>
              <a:t>Recursive Function Calls:</a:t>
            </a:r>
            <a:endParaRPr lang="en-US" dirty="0"/>
          </a:p>
          <a:p>
            <a:r>
              <a:rPr lang="en-US" dirty="0"/>
              <a:t>Functions call each other recursively based on the </a:t>
            </a:r>
            <a:r>
              <a:rPr lang="en-US" b="1" dirty="0"/>
              <a:t>grammar rules</a:t>
            </a:r>
            <a:r>
              <a:rPr lang="en-US" dirty="0"/>
              <a:t>.</a:t>
            </a:r>
          </a:p>
          <a:p>
            <a:pPr marL="36576" indent="0">
              <a:buNone/>
            </a:pPr>
            <a:r>
              <a:rPr lang="en-US" b="1" dirty="0"/>
              <a:t>Token Matching:</a:t>
            </a:r>
            <a:endParaRPr lang="en-US" dirty="0"/>
          </a:p>
          <a:p>
            <a:r>
              <a:rPr lang="en-US" b="1" dirty="0"/>
              <a:t>Terminal symbols</a:t>
            </a:r>
            <a:r>
              <a:rPr lang="en-US" dirty="0"/>
              <a:t> are matched directly against the input tokens to parse.</a:t>
            </a:r>
          </a:p>
          <a:p>
            <a:pPr marL="36576" indent="0">
              <a:buNone/>
            </a:pPr>
            <a:r>
              <a:rPr lang="en-US" b="1" dirty="0"/>
              <a:t>Call Stack Behavior:</a:t>
            </a:r>
            <a:endParaRPr lang="en-US" dirty="0"/>
          </a:p>
          <a:p>
            <a:r>
              <a:rPr lang="en-US" b="1" dirty="0"/>
              <a:t>Recursion</a:t>
            </a:r>
            <a:r>
              <a:rPr lang="en-US" dirty="0"/>
              <a:t> grows the call stack.</a:t>
            </a:r>
          </a:p>
          <a:p>
            <a:r>
              <a:rPr lang="en-US" dirty="0"/>
              <a:t>Stack </a:t>
            </a:r>
            <a:r>
              <a:rPr lang="en-US" b="1" dirty="0"/>
              <a:t>unwinds</a:t>
            </a:r>
            <a:r>
              <a:rPr lang="en-US" dirty="0"/>
              <a:t> as functions return.</a:t>
            </a:r>
          </a:p>
          <a:p>
            <a:pPr marL="36576" indent="0">
              <a:buNone/>
            </a:pPr>
            <a:r>
              <a:rPr lang="en-US" b="1" dirty="0"/>
              <a:t>Diagram </a:t>
            </a:r>
            <a:r>
              <a:rPr lang="en-US" b="1" dirty="0" smtClean="0"/>
              <a:t>:</a:t>
            </a:r>
          </a:p>
          <a:p>
            <a:pPr marL="36576" indent="0">
              <a:buNone/>
            </a:pPr>
            <a:r>
              <a:rPr lang="en-US" dirty="0"/>
              <a:t>Input Tokens → Recursive Function Calls → Parse Tree</a:t>
            </a:r>
          </a:p>
          <a:p>
            <a:pPr marL="36576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Grammar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6576" indent="0">
              <a:buNone/>
            </a:pPr>
            <a:r>
              <a:rPr lang="en-US" b="1" dirty="0"/>
              <a:t>Production Rules:</a:t>
            </a:r>
            <a:endParaRPr lang="en-US" dirty="0"/>
          </a:p>
          <a:p>
            <a:r>
              <a:rPr lang="en-US" dirty="0"/>
              <a:t>E → T E' E' → + T E' | </a:t>
            </a:r>
            <a:r>
              <a:rPr lang="el-GR" dirty="0"/>
              <a:t>ε </a:t>
            </a:r>
            <a:r>
              <a:rPr lang="en-US" dirty="0"/>
              <a:t>T → F T' T' → * F T' | </a:t>
            </a:r>
            <a:r>
              <a:rPr lang="el-GR" dirty="0"/>
              <a:t>ε </a:t>
            </a:r>
            <a:r>
              <a:rPr lang="en-US" dirty="0"/>
              <a:t>F → ( E ) | id </a:t>
            </a:r>
          </a:p>
          <a:p>
            <a:pPr marL="36576" indent="0">
              <a:buNone/>
            </a:pPr>
            <a:r>
              <a:rPr lang="en-US" b="1" dirty="0"/>
              <a:t>Non-Terminals:</a:t>
            </a:r>
            <a:endParaRPr lang="en-US" dirty="0"/>
          </a:p>
          <a:p>
            <a:r>
              <a:rPr lang="en-US" dirty="0"/>
              <a:t>E, E', T, T', F</a:t>
            </a:r>
          </a:p>
          <a:p>
            <a:pPr marL="36576" indent="0">
              <a:buNone/>
            </a:pPr>
            <a:r>
              <a:rPr lang="en-US" b="1" dirty="0"/>
              <a:t>Terminals:</a:t>
            </a:r>
            <a:endParaRPr lang="en-US" dirty="0"/>
          </a:p>
          <a:p>
            <a:r>
              <a:rPr lang="en-US" dirty="0"/>
              <a:t>+, *, (, ), id</a:t>
            </a:r>
          </a:p>
          <a:p>
            <a:pPr marL="36576" indent="0">
              <a:buNone/>
            </a:pPr>
            <a:r>
              <a:rPr lang="en-US" b="1" dirty="0"/>
              <a:t>Mapping Table </a:t>
            </a:r>
            <a:r>
              <a:rPr lang="en-US" b="1" dirty="0" smtClean="0"/>
              <a:t>:</a:t>
            </a:r>
            <a:endParaRPr lang="en-US" dirty="0"/>
          </a:p>
          <a:p>
            <a:r>
              <a:rPr lang="en-US" dirty="0"/>
              <a:t>Non-terminal → Function Name → Purpose </a:t>
            </a:r>
            <a:endParaRPr lang="en-US" dirty="0" smtClean="0"/>
          </a:p>
          <a:p>
            <a:pPr marL="36576" indent="0">
              <a:buNone/>
            </a:pPr>
            <a:r>
              <a:rPr lang="en-US" b="1" dirty="0" smtClean="0"/>
              <a:t>Notes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Each non-terminal maps to a </a:t>
            </a:r>
            <a:r>
              <a:rPr lang="en-US" b="1" dirty="0"/>
              <a:t>recursive function</a:t>
            </a:r>
            <a:r>
              <a:rPr lang="en-US" dirty="0"/>
              <a:t> in the parser.</a:t>
            </a:r>
          </a:p>
          <a:p>
            <a:r>
              <a:rPr lang="en-US" dirty="0"/>
              <a:t>Terminals are </a:t>
            </a:r>
            <a:r>
              <a:rPr lang="en-US" b="1" dirty="0"/>
              <a:t>matched directly</a:t>
            </a:r>
            <a:r>
              <a:rPr lang="en-US" dirty="0"/>
              <a:t> against input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Input Parsing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576" indent="0">
              <a:buNone/>
            </a:pPr>
            <a:r>
              <a:rPr lang="en-US" sz="1200" b="1" dirty="0"/>
              <a:t>Input Expression:</a:t>
            </a:r>
            <a:endParaRPr lang="en-US" sz="1200" dirty="0"/>
          </a:p>
          <a:p>
            <a:r>
              <a:rPr lang="en-US" sz="1200" dirty="0"/>
              <a:t>id + id * id </a:t>
            </a:r>
          </a:p>
          <a:p>
            <a:pPr marL="36576" indent="0">
              <a:buNone/>
            </a:pPr>
            <a:r>
              <a:rPr lang="en-US" sz="1200" b="1" dirty="0"/>
              <a:t>Step-by-Step Parsing:</a:t>
            </a:r>
            <a:endParaRPr lang="en-US" sz="1200" dirty="0"/>
          </a:p>
          <a:p>
            <a:r>
              <a:rPr lang="en-US" sz="1200" dirty="0"/>
              <a:t>Start with </a:t>
            </a:r>
            <a:r>
              <a:rPr lang="en-US" sz="1200" b="1" dirty="0"/>
              <a:t>E()</a:t>
            </a:r>
            <a:r>
              <a:rPr lang="en-US" sz="1200" dirty="0"/>
              <a:t> (top-level function for expression).</a:t>
            </a:r>
          </a:p>
          <a:p>
            <a:r>
              <a:rPr lang="en-US" sz="1200" dirty="0"/>
              <a:t>Call </a:t>
            </a:r>
            <a:r>
              <a:rPr lang="en-US" sz="1200" b="1" dirty="0"/>
              <a:t>T()</a:t>
            </a:r>
            <a:r>
              <a:rPr lang="en-US" sz="1200" dirty="0"/>
              <a:t> → matches </a:t>
            </a:r>
            <a:r>
              <a:rPr lang="en-US" sz="1200" b="1" dirty="0"/>
              <a:t>F()</a:t>
            </a:r>
            <a:r>
              <a:rPr lang="en-US" sz="1200" dirty="0"/>
              <a:t> → matches id.</a:t>
            </a:r>
          </a:p>
          <a:p>
            <a:r>
              <a:rPr lang="en-US" sz="1200" dirty="0"/>
              <a:t>Call </a:t>
            </a:r>
            <a:r>
              <a:rPr lang="en-US" sz="1200" b="1" dirty="0"/>
              <a:t>E'()</a:t>
            </a:r>
            <a:r>
              <a:rPr lang="en-US" sz="1200" dirty="0"/>
              <a:t> → sees + → matches and calls </a:t>
            </a:r>
            <a:r>
              <a:rPr lang="en-US" sz="1200" b="1" dirty="0"/>
              <a:t>T()</a:t>
            </a:r>
            <a:r>
              <a:rPr lang="en-US" sz="1200" dirty="0"/>
              <a:t> for right-hand side.</a:t>
            </a:r>
          </a:p>
          <a:p>
            <a:r>
              <a:rPr lang="en-US" sz="1200" b="1" dirty="0"/>
              <a:t>T()</a:t>
            </a:r>
            <a:r>
              <a:rPr lang="en-US" sz="1200" dirty="0"/>
              <a:t> → </a:t>
            </a:r>
            <a:r>
              <a:rPr lang="en-US" sz="1200" b="1" dirty="0"/>
              <a:t>F()</a:t>
            </a:r>
            <a:r>
              <a:rPr lang="en-US" sz="1200" dirty="0"/>
              <a:t> → matches id.</a:t>
            </a:r>
          </a:p>
          <a:p>
            <a:r>
              <a:rPr lang="en-US" sz="1200" b="1" dirty="0"/>
              <a:t>T'()</a:t>
            </a:r>
            <a:r>
              <a:rPr lang="en-US" sz="1200" dirty="0"/>
              <a:t> → sees * → matches and calls </a:t>
            </a:r>
            <a:r>
              <a:rPr lang="en-US" sz="1200" b="1" dirty="0"/>
              <a:t>F()</a:t>
            </a:r>
            <a:r>
              <a:rPr lang="en-US" sz="1200" dirty="0"/>
              <a:t> → matches id.</a:t>
            </a:r>
          </a:p>
          <a:p>
            <a:r>
              <a:rPr lang="en-US" sz="1200" b="1" dirty="0"/>
              <a:t>E'()</a:t>
            </a:r>
            <a:r>
              <a:rPr lang="en-US" sz="1200" dirty="0"/>
              <a:t> → sees no more + → returns </a:t>
            </a:r>
            <a:r>
              <a:rPr lang="el-GR" sz="1200" b="1" dirty="0"/>
              <a:t>ε</a:t>
            </a:r>
            <a:r>
              <a:rPr lang="el-GR" sz="1200" dirty="0"/>
              <a:t> (</a:t>
            </a:r>
            <a:r>
              <a:rPr lang="en-US" sz="1200" dirty="0"/>
              <a:t>end of recursion).</a:t>
            </a:r>
          </a:p>
          <a:p>
            <a:pPr marL="36576" indent="0">
              <a:buNone/>
            </a:pPr>
            <a:r>
              <a:rPr lang="en-US" sz="1200" b="1" dirty="0"/>
              <a:t>Parse Tree Representation </a:t>
            </a:r>
            <a:r>
              <a:rPr lang="en-US" sz="1200" b="1" dirty="0" smtClean="0"/>
              <a:t>:</a:t>
            </a:r>
          </a:p>
          <a:p>
            <a:pPr marL="36576" indent="0" algn="ctr">
              <a:buNone/>
            </a:pPr>
            <a:r>
              <a:rPr lang="de-DE" sz="1100" dirty="0" smtClean="0"/>
              <a:t>     </a:t>
            </a:r>
            <a:r>
              <a:rPr lang="de-DE" sz="1100" dirty="0"/>
              <a:t>E</a:t>
            </a:r>
          </a:p>
          <a:p>
            <a:pPr marL="36576" indent="0" algn="ctr">
              <a:buNone/>
            </a:pPr>
            <a:r>
              <a:rPr lang="de-DE" sz="1100" dirty="0"/>
              <a:t>       / \</a:t>
            </a:r>
          </a:p>
          <a:p>
            <a:pPr marL="36576" indent="0" algn="ctr">
              <a:buNone/>
            </a:pPr>
            <a:r>
              <a:rPr lang="de-DE" sz="1100" dirty="0"/>
              <a:t>      T   E'</a:t>
            </a:r>
          </a:p>
          <a:p>
            <a:pPr marL="36576" indent="0" algn="ctr">
              <a:buNone/>
            </a:pPr>
            <a:r>
              <a:rPr lang="de-DE" sz="1100" dirty="0"/>
              <a:t>     / \    \</a:t>
            </a:r>
          </a:p>
          <a:p>
            <a:pPr marL="36576" indent="0" algn="ctr">
              <a:buNone/>
            </a:pPr>
            <a:r>
              <a:rPr lang="de-DE" sz="1100" dirty="0"/>
              <a:t>    F  T'    +</a:t>
            </a:r>
          </a:p>
          <a:p>
            <a:pPr marL="36576" indent="0" algn="ctr">
              <a:buNone/>
            </a:pPr>
            <a:r>
              <a:rPr lang="de-DE" sz="1100" dirty="0"/>
              <a:t>    |   \     \</a:t>
            </a:r>
          </a:p>
          <a:p>
            <a:pPr marL="36576" indent="0" algn="ctr">
              <a:buNone/>
            </a:pPr>
            <a:r>
              <a:rPr lang="de-DE" sz="1100" dirty="0"/>
              <a:t>   id    *     T</a:t>
            </a:r>
          </a:p>
          <a:p>
            <a:pPr marL="36576" indent="0" algn="ctr">
              <a:buNone/>
            </a:pPr>
            <a:r>
              <a:rPr lang="de-DE" sz="1100" dirty="0"/>
              <a:t>           \    \</a:t>
            </a:r>
          </a:p>
          <a:p>
            <a:pPr marL="36576" indent="0" algn="ctr">
              <a:buNone/>
            </a:pPr>
            <a:r>
              <a:rPr lang="de-DE" sz="1100" dirty="0"/>
              <a:t>            F    T'</a:t>
            </a:r>
          </a:p>
          <a:p>
            <a:pPr marL="36576" indent="0" algn="ctr">
              <a:buNone/>
            </a:pPr>
            <a:r>
              <a:rPr lang="de-DE" sz="1100" dirty="0"/>
              <a:t>            |     \</a:t>
            </a:r>
          </a:p>
          <a:p>
            <a:pPr marL="36576" indent="0" algn="ctr">
              <a:buNone/>
            </a:pPr>
            <a:r>
              <a:rPr lang="de-DE" sz="1100" dirty="0"/>
              <a:t>           id      </a:t>
            </a:r>
            <a:r>
              <a:rPr lang="de-DE" sz="1100" dirty="0" smtClean="0"/>
              <a:t>ε</a:t>
            </a:r>
          </a:p>
          <a:p>
            <a:pPr marL="36576" indent="0">
              <a:buNone/>
            </a:pPr>
            <a:r>
              <a:rPr lang="en-US" sz="1100" b="1" dirty="0"/>
              <a:t>Notes:</a:t>
            </a:r>
            <a:endParaRPr lang="en-US" sz="1100" dirty="0"/>
          </a:p>
          <a:p>
            <a:r>
              <a:rPr lang="en-US" sz="1200" dirty="0"/>
              <a:t>Recursive descent functions follow </a:t>
            </a:r>
            <a:r>
              <a:rPr lang="en-US" sz="1200" b="1" dirty="0"/>
              <a:t>production rules</a:t>
            </a:r>
            <a:r>
              <a:rPr lang="en-US" sz="1200" dirty="0"/>
              <a:t>.</a:t>
            </a:r>
          </a:p>
          <a:p>
            <a:r>
              <a:rPr lang="en-US" sz="1200" dirty="0"/>
              <a:t>Terminals are </a:t>
            </a:r>
            <a:r>
              <a:rPr lang="en-US" sz="1200" b="1" dirty="0"/>
              <a:t>matched directly</a:t>
            </a:r>
            <a:r>
              <a:rPr lang="en-US" sz="1200" dirty="0"/>
              <a:t>, non-terminals </a:t>
            </a:r>
            <a:r>
              <a:rPr lang="en-US" sz="1200" b="1" dirty="0"/>
              <a:t>call functions recursively</a:t>
            </a:r>
            <a:r>
              <a:rPr lang="en-US" sz="1200" dirty="0"/>
              <a:t>.</a:t>
            </a:r>
          </a:p>
          <a:p>
            <a:pPr marL="36576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Recursive Descent Parser – </a:t>
            </a:r>
            <a:r>
              <a:rPr lang="en-US" sz="3200" dirty="0" err="1"/>
              <a:t>Pseudocode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Function Mapping (Based on Grammar):</a:t>
            </a:r>
            <a:endParaRPr lang="en-US" sz="2400" dirty="0"/>
          </a:p>
          <a:p>
            <a:pPr marL="36576" indent="0">
              <a:buNone/>
            </a:pPr>
            <a:r>
              <a:rPr lang="it-IT" sz="2400" dirty="0"/>
              <a:t>Non-Terminal → Function</a:t>
            </a:r>
          </a:p>
          <a:p>
            <a:pPr marL="36576" indent="0">
              <a:buNone/>
            </a:pPr>
            <a:r>
              <a:rPr lang="it-IT" sz="2400" dirty="0"/>
              <a:t>E  → parse_E()</a:t>
            </a:r>
          </a:p>
          <a:p>
            <a:pPr marL="36576" indent="0">
              <a:buNone/>
            </a:pPr>
            <a:r>
              <a:rPr lang="it-IT" sz="2400" dirty="0"/>
              <a:t>E' → parse_E_prime()</a:t>
            </a:r>
          </a:p>
          <a:p>
            <a:pPr marL="36576" indent="0">
              <a:buNone/>
            </a:pPr>
            <a:r>
              <a:rPr lang="it-IT" sz="2400" dirty="0"/>
              <a:t>T  → parse_T()</a:t>
            </a:r>
          </a:p>
          <a:p>
            <a:pPr marL="36576" indent="0">
              <a:buNone/>
            </a:pPr>
            <a:r>
              <a:rPr lang="it-IT" sz="2400" dirty="0"/>
              <a:t>T' → parse_T_prime()</a:t>
            </a:r>
          </a:p>
          <a:p>
            <a:pPr marL="36576" indent="0">
              <a:buNone/>
            </a:pPr>
            <a:r>
              <a:rPr lang="it-IT" sz="2400" dirty="0"/>
              <a:t>F  → parse_F</a:t>
            </a:r>
            <a:r>
              <a:rPr lang="it-IT" sz="2400" dirty="0" smtClean="0"/>
              <a:t>()</a:t>
            </a:r>
          </a:p>
          <a:p>
            <a:pPr marL="36576" indent="0">
              <a:buNone/>
            </a:pPr>
            <a:endParaRPr lang="it-IT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</a:t>
            </a:r>
            <a:r>
              <a:rPr lang="en-US" dirty="0" err="1" smtClean="0"/>
              <a:t>contunied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5100" dirty="0" err="1"/>
              <a:t>Pseudocode</a:t>
            </a:r>
            <a:r>
              <a:rPr lang="en-US" sz="5100" dirty="0"/>
              <a:t> Example</a:t>
            </a:r>
            <a:r>
              <a:rPr lang="en-US" sz="5100" dirty="0" smtClean="0"/>
              <a:t>:</a:t>
            </a:r>
          </a:p>
          <a:p>
            <a:pPr marL="36576" indent="0">
              <a:buNone/>
            </a:pPr>
            <a:r>
              <a:rPr lang="en-US" dirty="0" err="1" smtClean="0"/>
              <a:t>parse_E</a:t>
            </a:r>
            <a:r>
              <a:rPr lang="en-US" dirty="0"/>
              <a:t>() {</a:t>
            </a:r>
          </a:p>
          <a:p>
            <a:pPr marL="36576" indent="0">
              <a:buNone/>
            </a:pPr>
            <a:r>
              <a:rPr lang="en-US" dirty="0"/>
              <a:t>    </a:t>
            </a:r>
            <a:r>
              <a:rPr lang="en-US" dirty="0" err="1"/>
              <a:t>parse_T</a:t>
            </a:r>
            <a:r>
              <a:rPr lang="en-US" dirty="0"/>
              <a:t>();</a:t>
            </a:r>
          </a:p>
          <a:p>
            <a:pPr marL="36576" indent="0">
              <a:buNone/>
            </a:pPr>
            <a:r>
              <a:rPr lang="en-US" dirty="0"/>
              <a:t>    </a:t>
            </a:r>
            <a:r>
              <a:rPr lang="en-US" dirty="0" err="1"/>
              <a:t>parse_E_prime</a:t>
            </a:r>
            <a:r>
              <a:rPr lang="en-US" dirty="0"/>
              <a:t>();</a:t>
            </a:r>
          </a:p>
          <a:p>
            <a:pPr marL="36576" indent="0">
              <a:buNone/>
            </a:pPr>
            <a:r>
              <a:rPr lang="en-US" dirty="0"/>
              <a:t>}</a:t>
            </a:r>
          </a:p>
          <a:p>
            <a:pPr marL="36576" indent="0">
              <a:buNone/>
            </a:pPr>
            <a:endParaRPr lang="en-US" dirty="0"/>
          </a:p>
          <a:p>
            <a:pPr marL="36576" indent="0">
              <a:buNone/>
            </a:pPr>
            <a:r>
              <a:rPr lang="en-US" dirty="0" err="1"/>
              <a:t>parse_E_prime</a:t>
            </a:r>
            <a:r>
              <a:rPr lang="en-US" dirty="0"/>
              <a:t>() {</a:t>
            </a:r>
          </a:p>
          <a:p>
            <a:pPr marL="36576" indent="0">
              <a:buNone/>
            </a:pPr>
            <a:r>
              <a:rPr lang="en-US" dirty="0"/>
              <a:t>    if (token == '+') {</a:t>
            </a:r>
          </a:p>
          <a:p>
            <a:pPr marL="36576" indent="0">
              <a:buNone/>
            </a:pPr>
            <a:r>
              <a:rPr lang="en-US" dirty="0"/>
              <a:t>        match('+');</a:t>
            </a:r>
          </a:p>
          <a:p>
            <a:pPr marL="36576" indent="0">
              <a:buNone/>
            </a:pPr>
            <a:r>
              <a:rPr lang="en-US" dirty="0"/>
              <a:t>        </a:t>
            </a:r>
            <a:r>
              <a:rPr lang="en-US" dirty="0" err="1"/>
              <a:t>parse_T</a:t>
            </a:r>
            <a:r>
              <a:rPr lang="en-US" dirty="0" smtClean="0"/>
              <a:t>();</a:t>
            </a:r>
          </a:p>
          <a:p>
            <a:pPr marL="36576" indent="0"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parse_E_prime</a:t>
            </a:r>
            <a:r>
              <a:rPr lang="en-US" dirty="0" smtClean="0"/>
              <a:t>();</a:t>
            </a:r>
          </a:p>
          <a:p>
            <a:pPr marL="36576" indent="0">
              <a:buNone/>
            </a:pPr>
            <a:r>
              <a:rPr lang="en-US" dirty="0" smtClean="0"/>
              <a:t>    </a:t>
            </a:r>
            <a:r>
              <a:rPr lang="en-US" dirty="0"/>
              <a:t>} else {</a:t>
            </a:r>
          </a:p>
          <a:p>
            <a:pPr marL="36576" indent="0">
              <a:buNone/>
            </a:pPr>
            <a:r>
              <a:rPr lang="en-US" dirty="0"/>
              <a:t>        // </a:t>
            </a:r>
            <a:r>
              <a:rPr lang="el-GR" dirty="0"/>
              <a:t>ε (</a:t>
            </a:r>
            <a:r>
              <a:rPr lang="en-US" dirty="0"/>
              <a:t>do nothing)</a:t>
            </a:r>
          </a:p>
          <a:p>
            <a:pPr marL="36576" indent="0">
              <a:buNone/>
            </a:pPr>
            <a:r>
              <a:rPr lang="en-US" dirty="0"/>
              <a:t>    }</a:t>
            </a:r>
          </a:p>
          <a:p>
            <a:pPr marL="36576" indent="0">
              <a:buNone/>
            </a:pPr>
            <a:r>
              <a:rPr lang="en-US" dirty="0" smtClean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493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</a:t>
            </a:r>
            <a:r>
              <a:rPr lang="en-US" dirty="0" err="1" smtClean="0"/>
              <a:t>contunied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576" indent="0">
              <a:buNone/>
            </a:pPr>
            <a:r>
              <a:rPr lang="en-US" sz="1100" dirty="0" err="1"/>
              <a:t>parse_T</a:t>
            </a:r>
            <a:r>
              <a:rPr lang="en-US" sz="1100" dirty="0"/>
              <a:t>() {</a:t>
            </a:r>
          </a:p>
          <a:p>
            <a:pPr marL="36576" indent="0">
              <a:buNone/>
            </a:pPr>
            <a:r>
              <a:rPr lang="en-US" sz="1100" dirty="0"/>
              <a:t>    </a:t>
            </a:r>
            <a:r>
              <a:rPr lang="en-US" sz="1100" dirty="0" err="1"/>
              <a:t>parse_F</a:t>
            </a:r>
            <a:r>
              <a:rPr lang="en-US" sz="1100" dirty="0"/>
              <a:t>();</a:t>
            </a:r>
          </a:p>
          <a:p>
            <a:pPr marL="36576" indent="0">
              <a:buNone/>
            </a:pPr>
            <a:r>
              <a:rPr lang="en-US" sz="1100" dirty="0"/>
              <a:t>    </a:t>
            </a:r>
            <a:r>
              <a:rPr lang="en-US" sz="1100" dirty="0" err="1"/>
              <a:t>parse_T_prime</a:t>
            </a:r>
            <a:r>
              <a:rPr lang="en-US" sz="1100" dirty="0"/>
              <a:t>();</a:t>
            </a:r>
          </a:p>
          <a:p>
            <a:pPr marL="36576" indent="0">
              <a:buNone/>
            </a:pPr>
            <a:r>
              <a:rPr lang="en-US" sz="1100" dirty="0"/>
              <a:t>}</a:t>
            </a:r>
          </a:p>
          <a:p>
            <a:endParaRPr lang="en-US" sz="1100" dirty="0"/>
          </a:p>
          <a:p>
            <a:pPr marL="36576" indent="0">
              <a:buNone/>
            </a:pPr>
            <a:r>
              <a:rPr lang="en-US" sz="1100" dirty="0" err="1"/>
              <a:t>parse_T_prime</a:t>
            </a:r>
            <a:r>
              <a:rPr lang="en-US" sz="1100" dirty="0"/>
              <a:t>() {</a:t>
            </a:r>
          </a:p>
          <a:p>
            <a:pPr marL="36576" indent="0">
              <a:buNone/>
            </a:pPr>
            <a:r>
              <a:rPr lang="en-US" sz="1100" dirty="0"/>
              <a:t>    if (token == '*') {</a:t>
            </a:r>
          </a:p>
          <a:p>
            <a:pPr marL="36576" indent="0">
              <a:buNone/>
            </a:pPr>
            <a:r>
              <a:rPr lang="en-US" sz="1100" dirty="0"/>
              <a:t>        match('*');</a:t>
            </a:r>
          </a:p>
          <a:p>
            <a:pPr marL="36576" indent="0">
              <a:buNone/>
            </a:pPr>
            <a:r>
              <a:rPr lang="en-US" sz="1100" dirty="0"/>
              <a:t>        </a:t>
            </a:r>
            <a:r>
              <a:rPr lang="en-US" sz="1100" dirty="0" err="1"/>
              <a:t>parse_F</a:t>
            </a:r>
            <a:r>
              <a:rPr lang="en-US" sz="1100" dirty="0"/>
              <a:t>();</a:t>
            </a:r>
          </a:p>
          <a:p>
            <a:pPr marL="36576" indent="0">
              <a:buNone/>
            </a:pPr>
            <a:r>
              <a:rPr lang="en-US" sz="1100" dirty="0"/>
              <a:t>        </a:t>
            </a:r>
            <a:r>
              <a:rPr lang="en-US" sz="1100" dirty="0" err="1"/>
              <a:t>parse_T_prime</a:t>
            </a:r>
            <a:r>
              <a:rPr lang="en-US" sz="1100" dirty="0"/>
              <a:t>();</a:t>
            </a:r>
          </a:p>
          <a:p>
            <a:pPr marL="36576" indent="0">
              <a:buNone/>
            </a:pPr>
            <a:r>
              <a:rPr lang="en-US" sz="1100" dirty="0"/>
              <a:t>    } else {</a:t>
            </a:r>
          </a:p>
          <a:p>
            <a:pPr marL="36576" indent="0">
              <a:buNone/>
            </a:pPr>
            <a:r>
              <a:rPr lang="en-US" sz="1100" dirty="0"/>
              <a:t>        // </a:t>
            </a:r>
            <a:r>
              <a:rPr lang="el-GR" sz="1100" dirty="0"/>
              <a:t>ε (</a:t>
            </a:r>
            <a:r>
              <a:rPr lang="en-US" sz="1100" dirty="0"/>
              <a:t>do nothing)</a:t>
            </a:r>
          </a:p>
          <a:p>
            <a:pPr marL="36576" indent="0">
              <a:buNone/>
            </a:pPr>
            <a:r>
              <a:rPr lang="en-US" sz="1100" dirty="0"/>
              <a:t>    }</a:t>
            </a:r>
          </a:p>
          <a:p>
            <a:pPr marL="36576" indent="0">
              <a:buNone/>
            </a:pPr>
            <a:r>
              <a:rPr lang="en-US" sz="1100" dirty="0" smtClean="0"/>
              <a:t>}</a:t>
            </a:r>
          </a:p>
          <a:p>
            <a:pPr marL="36576" indent="0">
              <a:buNone/>
            </a:pPr>
            <a:endParaRPr lang="en-US" sz="1100" dirty="0" smtClean="0"/>
          </a:p>
          <a:p>
            <a:pPr marL="36576" indent="0">
              <a:buNone/>
            </a:pPr>
            <a:r>
              <a:rPr lang="en-US" sz="1100" dirty="0" err="1" smtClean="0"/>
              <a:t>parse_F</a:t>
            </a:r>
            <a:r>
              <a:rPr lang="en-US" sz="1100" dirty="0"/>
              <a:t>() {</a:t>
            </a:r>
          </a:p>
          <a:p>
            <a:pPr marL="36576" indent="0">
              <a:buNone/>
            </a:pPr>
            <a:r>
              <a:rPr lang="en-US" sz="1100" dirty="0"/>
              <a:t>    if (token == id) </a:t>
            </a:r>
            <a:r>
              <a:rPr lang="en-US" sz="1100" dirty="0" smtClean="0"/>
              <a:t>{</a:t>
            </a:r>
          </a:p>
          <a:p>
            <a:pPr marL="36576" indent="0">
              <a:buNone/>
            </a:pPr>
            <a:r>
              <a:rPr lang="en-US" sz="1100" dirty="0"/>
              <a:t>        match(id);</a:t>
            </a:r>
          </a:p>
          <a:p>
            <a:pPr marL="36576" indent="0">
              <a:buNone/>
            </a:pPr>
            <a:r>
              <a:rPr lang="en-US" sz="1100" dirty="0" smtClean="0"/>
              <a:t>    </a:t>
            </a:r>
            <a:r>
              <a:rPr lang="en-US" sz="1100" dirty="0"/>
              <a:t>} else if (token == '(') {</a:t>
            </a:r>
          </a:p>
          <a:p>
            <a:pPr marL="36576" indent="0">
              <a:buNone/>
            </a:pPr>
            <a:r>
              <a:rPr lang="en-US" sz="1100" dirty="0"/>
              <a:t>        match('(');</a:t>
            </a:r>
          </a:p>
          <a:p>
            <a:pPr marL="36576" indent="0">
              <a:buNone/>
            </a:pPr>
            <a:r>
              <a:rPr lang="en-US" sz="1100" dirty="0"/>
              <a:t>        </a:t>
            </a:r>
            <a:r>
              <a:rPr lang="en-US" sz="1100" dirty="0" err="1"/>
              <a:t>parse_E</a:t>
            </a:r>
            <a:r>
              <a:rPr lang="en-US" sz="1100" dirty="0"/>
              <a:t>();</a:t>
            </a:r>
          </a:p>
          <a:p>
            <a:pPr marL="36576" indent="0">
              <a:buNone/>
            </a:pPr>
            <a:r>
              <a:rPr lang="en-US" sz="1100" dirty="0"/>
              <a:t>        match(')');</a:t>
            </a:r>
          </a:p>
          <a:p>
            <a:pPr marL="36576" indent="0">
              <a:buNone/>
            </a:pPr>
            <a:r>
              <a:rPr lang="en-US" sz="1100" dirty="0"/>
              <a:t>    } else {</a:t>
            </a:r>
          </a:p>
          <a:p>
            <a:pPr marL="36576" indent="0">
              <a:buNone/>
            </a:pPr>
            <a:r>
              <a:rPr lang="en-US" sz="1100" dirty="0"/>
              <a:t>        error();</a:t>
            </a:r>
          </a:p>
          <a:p>
            <a:pPr marL="36576" indent="0">
              <a:buNone/>
            </a:pPr>
            <a:r>
              <a:rPr lang="en-US" sz="1100" dirty="0"/>
              <a:t>    }</a:t>
            </a:r>
          </a:p>
          <a:p>
            <a:pPr marL="36576" indent="0">
              <a:buNone/>
            </a:pPr>
            <a:r>
              <a:rPr lang="en-US" sz="1100" dirty="0"/>
              <a:t>}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29524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6576" indent="0">
              <a:buNone/>
            </a:pPr>
            <a:r>
              <a:rPr lang="en-US" b="1" dirty="0"/>
              <a:t>Easy to Implement:</a:t>
            </a:r>
            <a:endParaRPr lang="en-US" dirty="0"/>
          </a:p>
          <a:p>
            <a:r>
              <a:rPr lang="en-US" dirty="0"/>
              <a:t>Straightforward coding with one function per non-terminal.</a:t>
            </a:r>
          </a:p>
          <a:p>
            <a:pPr marL="36576" indent="0">
              <a:buNone/>
            </a:pPr>
            <a:r>
              <a:rPr lang="en-US" b="1" dirty="0"/>
              <a:t>Direct Mapping from Grammar Rules to Functions:</a:t>
            </a:r>
            <a:endParaRPr lang="en-US" dirty="0"/>
          </a:p>
          <a:p>
            <a:r>
              <a:rPr lang="en-US" dirty="0"/>
              <a:t>Each grammar production has a clear corresponding function.</a:t>
            </a:r>
          </a:p>
          <a:p>
            <a:pPr marL="36576" indent="0">
              <a:buNone/>
            </a:pPr>
            <a:r>
              <a:rPr lang="en-US" b="1" dirty="0"/>
              <a:t>Good for Debugging and Education:</a:t>
            </a:r>
            <a:endParaRPr lang="en-US" dirty="0"/>
          </a:p>
          <a:p>
            <a:r>
              <a:rPr lang="en-US" dirty="0"/>
              <a:t>Clear structure makes it easy to trace parsing steps.</a:t>
            </a:r>
          </a:p>
          <a:p>
            <a:pPr marL="36576" indent="0">
              <a:buNone/>
            </a:pPr>
            <a:r>
              <a:rPr lang="en-US" b="1" dirty="0"/>
              <a:t>Can Embed Semantic Actions:</a:t>
            </a:r>
            <a:endParaRPr lang="en-US" dirty="0"/>
          </a:p>
          <a:p>
            <a:r>
              <a:rPr lang="en-US" dirty="0"/>
              <a:t>Allows evaluating expressions, building syntax trees, or other actions during parsing.</a:t>
            </a:r>
          </a:p>
          <a:p>
            <a:pPr marL="36576" indent="0">
              <a:buNone/>
            </a:pPr>
            <a:r>
              <a:rPr lang="en-US" b="1" dirty="0"/>
              <a:t>Notes </a:t>
            </a:r>
            <a:r>
              <a:rPr lang="en-US" b="1" dirty="0" smtClean="0"/>
              <a:t>:</a:t>
            </a:r>
            <a:endParaRPr lang="en-US" dirty="0"/>
          </a:p>
          <a:p>
            <a:r>
              <a:rPr lang="en-US" dirty="0"/>
              <a:t>Works best for </a:t>
            </a:r>
            <a:r>
              <a:rPr lang="en-US" b="1" dirty="0"/>
              <a:t>LL(1) grammars</a:t>
            </a:r>
            <a:r>
              <a:rPr lang="en-US" dirty="0"/>
              <a:t> (no left recursion).</a:t>
            </a:r>
          </a:p>
          <a:p>
            <a:r>
              <a:rPr lang="en-US" dirty="0"/>
              <a:t>Not ideal for highly ambiguous or complex grammars.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6576" indent="0">
              <a:buNone/>
            </a:pPr>
            <a:r>
              <a:rPr lang="en-US" b="1" dirty="0"/>
              <a:t>Cannot Handle Left-Recursive Grammars:</a:t>
            </a:r>
            <a:endParaRPr lang="en-US" dirty="0"/>
          </a:p>
          <a:p>
            <a:pPr lvl="1"/>
            <a:r>
              <a:rPr lang="en-US" dirty="0"/>
              <a:t>Left recursion must be </a:t>
            </a:r>
            <a:r>
              <a:rPr lang="en-US" b="1" dirty="0"/>
              <a:t>eliminated</a:t>
            </a:r>
            <a:r>
              <a:rPr lang="en-US" dirty="0"/>
              <a:t> before using this parser.</a:t>
            </a:r>
          </a:p>
          <a:p>
            <a:pPr marL="36576" indent="0">
              <a:buNone/>
            </a:pPr>
            <a:r>
              <a:rPr lang="en-US" b="1" dirty="0"/>
              <a:t>Backtracking Can Be Expensive:</a:t>
            </a:r>
            <a:endParaRPr lang="en-US" dirty="0"/>
          </a:p>
          <a:p>
            <a:pPr lvl="1"/>
            <a:r>
              <a:rPr lang="en-US" dirty="0"/>
              <a:t>Non-LL(1) grammars may require </a:t>
            </a:r>
            <a:r>
              <a:rPr lang="en-US" b="1" dirty="0"/>
              <a:t>trying multiple alternatives</a:t>
            </a:r>
            <a:r>
              <a:rPr lang="en-US" dirty="0"/>
              <a:t>, slowing parsing.</a:t>
            </a:r>
          </a:p>
          <a:p>
            <a:pPr marL="36576" indent="0">
              <a:buNone/>
            </a:pPr>
            <a:r>
              <a:rPr lang="en-US" b="1" dirty="0"/>
              <a:t>Not Efficient for Large or Complex Grammars:</a:t>
            </a:r>
            <a:endParaRPr lang="en-US" dirty="0"/>
          </a:p>
          <a:p>
            <a:pPr lvl="1"/>
            <a:r>
              <a:rPr lang="en-US" dirty="0"/>
              <a:t>Recursive calls can </a:t>
            </a:r>
            <a:r>
              <a:rPr lang="en-US" b="1" dirty="0"/>
              <a:t>consume more memory</a:t>
            </a:r>
            <a:r>
              <a:rPr lang="en-US" dirty="0"/>
              <a:t> and </a:t>
            </a:r>
            <a:r>
              <a:rPr lang="en-US" b="1" dirty="0"/>
              <a:t>increase runtime</a:t>
            </a:r>
            <a:r>
              <a:rPr lang="en-US" dirty="0"/>
              <a:t>.</a:t>
            </a:r>
          </a:p>
          <a:p>
            <a:pPr marL="36576" indent="0">
              <a:buNone/>
            </a:pPr>
            <a:r>
              <a:rPr lang="en-US" b="1" dirty="0"/>
              <a:t>Diagram / Visual </a:t>
            </a:r>
            <a:r>
              <a:rPr lang="en-US" b="1" dirty="0" smtClean="0"/>
              <a:t>Warning:</a:t>
            </a:r>
            <a:endParaRPr lang="en-US" dirty="0"/>
          </a:p>
          <a:p>
            <a:r>
              <a:rPr lang="en-US" dirty="0"/>
              <a:t>Left Recursion Example: E → E + T | T </a:t>
            </a:r>
            <a:endParaRPr lang="en-US" dirty="0" smtClean="0"/>
          </a:p>
          <a:p>
            <a:pPr marL="36576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/>
              <a:t>Recursive descent will enter infinite recursion here! </a:t>
            </a:r>
          </a:p>
          <a:p>
            <a:pPr marL="36576" indent="0">
              <a:buNone/>
            </a:pPr>
            <a:r>
              <a:rPr lang="en-US" b="1" dirty="0"/>
              <a:t>Notes:</a:t>
            </a:r>
            <a:endParaRPr lang="en-US" dirty="0"/>
          </a:p>
          <a:p>
            <a:pPr lvl="1"/>
            <a:r>
              <a:rPr lang="en-US" dirty="0"/>
              <a:t>Best suited for </a:t>
            </a:r>
            <a:r>
              <a:rPr lang="en-US" b="1" dirty="0"/>
              <a:t>simple, LL(1) grammars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Complex grammars often require </a:t>
            </a:r>
            <a:r>
              <a:rPr lang="en-US" b="1" dirty="0"/>
              <a:t>parser generators</a:t>
            </a:r>
            <a:r>
              <a:rPr lang="en-US" dirty="0"/>
              <a:t> or </a:t>
            </a:r>
            <a:r>
              <a:rPr lang="en-US" b="1" dirty="0"/>
              <a:t>bottom-up parsing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36576" indent="0">
              <a:buNone/>
            </a:pPr>
            <a:r>
              <a:rPr lang="en-US" b="1" dirty="0"/>
              <a:t>Simple Interpreters and Calculators:</a:t>
            </a:r>
            <a:endParaRPr lang="en-US" dirty="0"/>
          </a:p>
          <a:p>
            <a:pPr lvl="1"/>
            <a:r>
              <a:rPr lang="en-US" dirty="0"/>
              <a:t>Ideal for parsing arithmetic expressions or small programming languages.</a:t>
            </a:r>
          </a:p>
          <a:p>
            <a:pPr marL="36576" indent="0">
              <a:buNone/>
            </a:pPr>
            <a:r>
              <a:rPr lang="en-US" b="1" dirty="0"/>
              <a:t>Educational Tools for Compiler Design:</a:t>
            </a:r>
            <a:endParaRPr lang="en-US" dirty="0"/>
          </a:p>
          <a:p>
            <a:pPr lvl="1"/>
            <a:r>
              <a:rPr lang="en-US" dirty="0"/>
              <a:t>Helps students </a:t>
            </a:r>
            <a:r>
              <a:rPr lang="en-US" b="1" dirty="0"/>
              <a:t>understand parsing and grammar concepts</a:t>
            </a:r>
            <a:r>
              <a:rPr lang="en-US" dirty="0"/>
              <a:t>.</a:t>
            </a:r>
          </a:p>
          <a:p>
            <a:pPr marL="36576" indent="0">
              <a:buNone/>
            </a:pPr>
            <a:r>
              <a:rPr lang="en-US" b="1" dirty="0"/>
              <a:t>Diagram / Workflow </a:t>
            </a:r>
            <a:r>
              <a:rPr lang="en-US" b="1" dirty="0" smtClean="0"/>
              <a:t>:</a:t>
            </a:r>
            <a:endParaRPr lang="en-US" dirty="0"/>
          </a:p>
          <a:p>
            <a:pPr marL="36576" indent="0" algn="ctr">
              <a:buNone/>
            </a:pPr>
            <a:r>
              <a:rPr lang="fr-FR" dirty="0"/>
              <a:t>Source Code</a:t>
            </a:r>
          </a:p>
          <a:p>
            <a:pPr marL="36576" indent="0" algn="ctr">
              <a:buNone/>
            </a:pPr>
            <a:r>
              <a:rPr lang="fr-FR" dirty="0"/>
              <a:t>     ↓</a:t>
            </a:r>
          </a:p>
          <a:p>
            <a:pPr marL="36576" indent="0" algn="ctr">
              <a:buNone/>
            </a:pPr>
            <a:r>
              <a:rPr lang="fr-FR" dirty="0"/>
              <a:t>    </a:t>
            </a:r>
            <a:r>
              <a:rPr lang="fr-FR" dirty="0" err="1"/>
              <a:t>Lexer</a:t>
            </a:r>
            <a:endParaRPr lang="fr-FR" dirty="0"/>
          </a:p>
          <a:p>
            <a:pPr marL="36576" indent="0" algn="ctr">
              <a:buNone/>
            </a:pPr>
            <a:r>
              <a:rPr lang="fr-FR" dirty="0"/>
              <a:t>     ↓</a:t>
            </a:r>
          </a:p>
          <a:p>
            <a:pPr marL="36576" indent="0" algn="ctr">
              <a:buNone/>
            </a:pPr>
            <a:r>
              <a:rPr lang="fr-FR" dirty="0" err="1"/>
              <a:t>Recursive</a:t>
            </a:r>
            <a:r>
              <a:rPr lang="fr-FR" dirty="0"/>
              <a:t>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 smtClean="0"/>
              <a:t>Parser</a:t>
            </a:r>
            <a:endParaRPr lang="fr-FR" dirty="0" smtClean="0"/>
          </a:p>
          <a:p>
            <a:pPr marL="36576" indent="0" algn="ctr">
              <a:buNone/>
            </a:pPr>
            <a:r>
              <a:rPr lang="fr-FR" dirty="0" smtClean="0"/>
              <a:t>     ↓</a:t>
            </a:r>
          </a:p>
          <a:p>
            <a:pPr marL="36576" indent="0" algn="ctr">
              <a:buNone/>
            </a:pPr>
            <a:r>
              <a:rPr lang="fr-FR" dirty="0" smtClean="0"/>
              <a:t>   </a:t>
            </a:r>
            <a:r>
              <a:rPr lang="fr-FR" dirty="0" err="1"/>
              <a:t>Parse</a:t>
            </a:r>
            <a:r>
              <a:rPr lang="fr-FR" dirty="0"/>
              <a:t> </a:t>
            </a:r>
            <a:r>
              <a:rPr lang="fr-FR" dirty="0" err="1"/>
              <a:t>Tree</a:t>
            </a:r>
            <a:endParaRPr lang="fr-FR" dirty="0"/>
          </a:p>
          <a:p>
            <a:pPr marL="36576" indent="0" algn="ctr">
              <a:buNone/>
            </a:pPr>
            <a:r>
              <a:rPr lang="fr-FR" dirty="0"/>
              <a:t>     ↓</a:t>
            </a:r>
          </a:p>
          <a:p>
            <a:pPr marL="36576" indent="0" algn="ctr">
              <a:buNone/>
            </a:pPr>
            <a:r>
              <a:rPr lang="fr-FR" dirty="0"/>
              <a:t>  Evaluation / </a:t>
            </a:r>
            <a:r>
              <a:rPr lang="fr-FR" dirty="0" err="1"/>
              <a:t>Semantic</a:t>
            </a:r>
            <a:r>
              <a:rPr lang="fr-FR" dirty="0"/>
              <a:t> Actions</a:t>
            </a:r>
          </a:p>
          <a:p>
            <a:pPr marL="36576" indent="0">
              <a:buNone/>
            </a:pPr>
            <a:r>
              <a:rPr lang="en-US" b="1" dirty="0" smtClean="0"/>
              <a:t>Notes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Can be extended with </a:t>
            </a:r>
            <a:r>
              <a:rPr lang="en-US" b="1" dirty="0"/>
              <a:t>semantic actions</a:t>
            </a:r>
            <a:r>
              <a:rPr lang="en-US" dirty="0"/>
              <a:t> to evaluate or translate code.</a:t>
            </a:r>
          </a:p>
          <a:p>
            <a:pPr lvl="1"/>
            <a:r>
              <a:rPr lang="en-US" dirty="0"/>
              <a:t>Often used in </a:t>
            </a:r>
            <a:r>
              <a:rPr lang="en-US" b="1" dirty="0"/>
              <a:t>teaching environments</a:t>
            </a:r>
            <a:r>
              <a:rPr lang="en-US" dirty="0"/>
              <a:t> rather than large-scale production compilers.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6576" indent="0">
              <a:buNone/>
            </a:pPr>
            <a:r>
              <a:rPr lang="en-US" b="1" dirty="0"/>
              <a:t>Top-Down, Recursive, and Simple Parser:</a:t>
            </a:r>
            <a:endParaRPr lang="en-US" dirty="0"/>
          </a:p>
          <a:p>
            <a:r>
              <a:rPr lang="en-US" dirty="0"/>
              <a:t>Follows grammar rules in a straightforward, recursive manner.</a:t>
            </a:r>
          </a:p>
          <a:p>
            <a:pPr marL="36576" indent="0">
              <a:buNone/>
            </a:pPr>
            <a:r>
              <a:rPr lang="en-US" b="1" dirty="0"/>
              <a:t>Non-Terminal Maps to Function:</a:t>
            </a:r>
            <a:endParaRPr lang="en-US" dirty="0"/>
          </a:p>
          <a:p>
            <a:r>
              <a:rPr lang="en-US" dirty="0"/>
              <a:t>Each grammar production has a </a:t>
            </a:r>
            <a:r>
              <a:rPr lang="en-US" b="1" dirty="0"/>
              <a:t>corresponding function</a:t>
            </a:r>
            <a:r>
              <a:rPr lang="en-US" dirty="0"/>
              <a:t> in code.</a:t>
            </a:r>
          </a:p>
          <a:p>
            <a:pPr marL="36576" indent="0">
              <a:buNone/>
            </a:pPr>
            <a:r>
              <a:rPr lang="en-US" b="1" dirty="0"/>
              <a:t>Must Eliminate Left Recursion:</a:t>
            </a:r>
            <a:endParaRPr lang="en-US" dirty="0"/>
          </a:p>
          <a:p>
            <a:r>
              <a:rPr lang="en-US" dirty="0"/>
              <a:t>Left-recursive rules can cause </a:t>
            </a:r>
            <a:r>
              <a:rPr lang="en-US" b="1" dirty="0"/>
              <a:t>infinite recursion</a:t>
            </a:r>
            <a:r>
              <a:rPr lang="en-US" dirty="0"/>
              <a:t>.</a:t>
            </a:r>
          </a:p>
          <a:p>
            <a:pPr marL="36576" indent="0">
              <a:buNone/>
            </a:pPr>
            <a:r>
              <a:rPr lang="en-US" b="1" dirty="0"/>
              <a:t>Best Used for LL(1) Grammars:</a:t>
            </a:r>
            <a:endParaRPr lang="en-US" dirty="0"/>
          </a:p>
          <a:p>
            <a:r>
              <a:rPr lang="en-US" dirty="0"/>
              <a:t>Works efficiently when </a:t>
            </a:r>
            <a:r>
              <a:rPr lang="en-US" b="1" dirty="0"/>
              <a:t>each choice is uniquely determined</a:t>
            </a:r>
            <a:r>
              <a:rPr lang="en-US" dirty="0"/>
              <a:t> by the next token.</a:t>
            </a:r>
          </a:p>
          <a:p>
            <a:pPr marL="36576" indent="0">
              <a:buNone/>
            </a:pPr>
            <a:r>
              <a:rPr lang="en-US" b="1" dirty="0"/>
              <a:t>Notes </a:t>
            </a:r>
            <a:r>
              <a:rPr lang="en-US" b="1" dirty="0" smtClean="0"/>
              <a:t>:</a:t>
            </a:r>
            <a:endParaRPr lang="en-US" dirty="0"/>
          </a:p>
          <a:p>
            <a:r>
              <a:rPr lang="en-US" dirty="0"/>
              <a:t>Ideal for </a:t>
            </a:r>
            <a:r>
              <a:rPr lang="en-US" b="1" dirty="0"/>
              <a:t>education, debugging, and small interpreters</a:t>
            </a:r>
            <a:r>
              <a:rPr lang="en-US" dirty="0"/>
              <a:t>.</a:t>
            </a:r>
          </a:p>
          <a:p>
            <a:r>
              <a:rPr lang="en-US" dirty="0"/>
              <a:t>Not suitable for </a:t>
            </a:r>
            <a:r>
              <a:rPr lang="en-US" b="1" dirty="0"/>
              <a:t>large or highly ambiguous grammars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000" b="1" dirty="0"/>
              <a:t>Books:</a:t>
            </a:r>
            <a:endParaRPr lang="en-US" sz="2000" dirty="0"/>
          </a:p>
          <a:p>
            <a:r>
              <a:rPr lang="en-US" sz="2000" dirty="0" err="1"/>
              <a:t>Aho</a:t>
            </a:r>
            <a:r>
              <a:rPr lang="en-US" sz="2000" dirty="0"/>
              <a:t>, Lam, </a:t>
            </a:r>
            <a:r>
              <a:rPr lang="en-US" sz="2000" dirty="0" err="1"/>
              <a:t>Sethi</a:t>
            </a:r>
            <a:r>
              <a:rPr lang="en-US" sz="2000" dirty="0"/>
              <a:t>, Ullman – </a:t>
            </a:r>
            <a:r>
              <a:rPr lang="en-US" sz="2000" i="1" dirty="0"/>
              <a:t>Compilers: Principles, Techniques, Tools</a:t>
            </a:r>
            <a:endParaRPr lang="en-US" sz="2000" dirty="0"/>
          </a:p>
          <a:p>
            <a:r>
              <a:rPr lang="en-US" sz="2000" dirty="0" err="1"/>
              <a:t>Appel</a:t>
            </a:r>
            <a:r>
              <a:rPr lang="en-US" sz="2000" dirty="0"/>
              <a:t> – </a:t>
            </a:r>
            <a:r>
              <a:rPr lang="en-US" sz="2000" i="1" dirty="0"/>
              <a:t>Modern Compiler Implementation</a:t>
            </a:r>
            <a:endParaRPr lang="en-US" sz="2000" dirty="0"/>
          </a:p>
          <a:p>
            <a:pPr marL="36576" indent="0">
              <a:buNone/>
            </a:pPr>
            <a:r>
              <a:rPr lang="en-US" sz="2000" b="1" dirty="0"/>
              <a:t>Online Resources:</a:t>
            </a:r>
            <a:endParaRPr lang="en-US" sz="2000" dirty="0"/>
          </a:p>
          <a:p>
            <a:r>
              <a:rPr lang="en-US" sz="2000" dirty="0" err="1"/>
              <a:t>Tutorialspoint</a:t>
            </a:r>
            <a:r>
              <a:rPr lang="en-US" sz="2000" dirty="0"/>
              <a:t> – </a:t>
            </a:r>
            <a:r>
              <a:rPr lang="en-US" sz="2000" i="1" dirty="0"/>
              <a:t>Recursive Descent Parser</a:t>
            </a:r>
            <a:endParaRPr lang="en-US" sz="2000" dirty="0"/>
          </a:p>
          <a:p>
            <a:r>
              <a:rPr lang="en-US" sz="2000" dirty="0"/>
              <a:t>Additional compiler design tutorials and lecture </a:t>
            </a:r>
            <a:r>
              <a:rPr lang="en-US" sz="2000" dirty="0" smtClean="0"/>
              <a:t>notes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101</TotalTime>
  <Words>1021</Words>
  <Application>Microsoft Office PowerPoint</Application>
  <PresentationFormat>On-screen Show (4:3)</PresentationFormat>
  <Paragraphs>184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Technic</vt:lpstr>
      <vt:lpstr>Recursive Descent Parser</vt:lpstr>
      <vt:lpstr>Introduction to Recursive Descent Parsing</vt:lpstr>
      <vt:lpstr>How Recursive Descent Works</vt:lpstr>
      <vt:lpstr>Grammar Example</vt:lpstr>
      <vt:lpstr>Input Parsing Example</vt:lpstr>
      <vt:lpstr>Recursive Descent Parser – Pseudocode</vt:lpstr>
      <vt:lpstr>…contunied </vt:lpstr>
      <vt:lpstr>…contunied </vt:lpstr>
      <vt:lpstr>Advantages</vt:lpstr>
      <vt:lpstr>Limitations</vt:lpstr>
      <vt:lpstr>Applications / Use Cases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Recursive Descent Parser</dc:title>
  <dc:subject/>
  <dc:creator/>
  <cp:keywords/>
  <dc:description>generated using python-pptx</dc:description>
  <cp:lastModifiedBy>User</cp:lastModifiedBy>
  <cp:revision>11</cp:revision>
  <dcterms:created xsi:type="dcterms:W3CDTF">2013-01-27T09:14:16Z</dcterms:created>
  <dcterms:modified xsi:type="dcterms:W3CDTF">2026-01-06T12:45:03Z</dcterms:modified>
  <cp:category/>
</cp:coreProperties>
</file>